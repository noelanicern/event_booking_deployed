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nva Sans Bold" panose="020B0604020202020204" charset="0"/>
      <p:regular r:id="rId19"/>
    </p:embeddedFont>
    <p:embeddedFont>
      <p:font typeface="DM Sans" pitchFamily="2" charset="0"/>
      <p:regular r:id="rId20"/>
    </p:embeddedFont>
    <p:embeddedFont>
      <p:font typeface="DM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Faces in videos (e.g., replacing one person’s face with another)</a:t>
            </a:r>
          </a:p>
          <a:p>
            <a:r>
              <a:rPr lang="en-US"/>
              <a:t>• Voices (voice cloning)</a:t>
            </a:r>
          </a:p>
          <a:p>
            <a:r>
              <a:rPr lang="en-US"/>
              <a:t>• Body movements (using motion capture)</a:t>
            </a:r>
          </a:p>
          <a:p>
            <a:r>
              <a:rPr lang="en-US"/>
              <a:t>• Entire videos or speeches that never happened</a:t>
            </a:r>
          </a:p>
          <a:p>
            <a:r>
              <a:rPr lang="en-US"/>
              <a:t>✅ Positive Uses of Deepfake Tech:</a:t>
            </a:r>
          </a:p>
          <a:p>
            <a:r>
              <a:rPr lang="en-US"/>
              <a:t>• Film industry: De-aging actors or recreating actors who passed away</a:t>
            </a:r>
          </a:p>
          <a:p>
            <a:r>
              <a:rPr lang="en-US"/>
              <a:t>• Education &amp; accessibility: Realistic dubbing, voiceovers, and translations</a:t>
            </a:r>
          </a:p>
          <a:p>
            <a:r>
              <a:rPr lang="en-US"/>
              <a:t>• Gaming &amp; AR/VR: Enhancing realism in avatars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(e.g., Microsoft Video Authenticator)</a:t>
            </a:r>
          </a:p>
          <a:p>
            <a:endParaRPr lang="en-US"/>
          </a:p>
          <a:p>
            <a:r>
              <a:rPr lang="en-US"/>
              <a:t>2. – teaching people to spot fakes</a:t>
            </a:r>
          </a:p>
          <a:p>
            <a:endParaRPr lang="en-US"/>
          </a:p>
          <a:p>
            <a:r>
              <a:rPr lang="en-US"/>
              <a:t>3. – laws to criminalize malicious use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Generator: Creates fake content (e.g., a fake face or voice).</a:t>
            </a:r>
          </a:p>
          <a:p>
            <a:endParaRPr lang="en-US"/>
          </a:p>
          <a:p>
            <a:r>
              <a:rPr lang="en-US"/>
              <a:t>• Discriminator: Tries to detect if the content is real or fake.</a:t>
            </a:r>
          </a:p>
          <a:p>
            <a:r>
              <a:rPr lang="en-US"/>
              <a:t>These two systems keep improving until the fake becomes almost indistinguishable from real</a:t>
            </a:r>
          </a:p>
          <a:p>
            <a:r>
              <a:rPr lang="en-US"/>
              <a:t>media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Generator: Creates fake content (e.g., a fake face or voice).</a:t>
            </a:r>
          </a:p>
          <a:p>
            <a:endParaRPr lang="en-US"/>
          </a:p>
          <a:p>
            <a:r>
              <a:rPr lang="en-US"/>
              <a:t>• Discriminator: Tries to detect if the content is real or fake.</a:t>
            </a:r>
          </a:p>
          <a:p>
            <a:r>
              <a:rPr lang="en-US"/>
              <a:t>These two systems keep improving until the fake becomes almost indistinguishable from real</a:t>
            </a:r>
          </a:p>
          <a:p>
            <a:r>
              <a:rPr lang="en-US"/>
              <a:t>media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 Generator: Creates fake content (e.g., a fake face or voice).</a:t>
            </a:r>
          </a:p>
          <a:p>
            <a:endParaRPr lang="en-US"/>
          </a:p>
          <a:p>
            <a:r>
              <a:rPr lang="en-US"/>
              <a:t>• Discriminator: Tries to detect if the content is real or fake.</a:t>
            </a:r>
          </a:p>
          <a:p>
            <a:r>
              <a:rPr lang="en-US"/>
              <a:t>These two systems keep improving until the fake becomes almost indistinguishable from real</a:t>
            </a:r>
          </a:p>
          <a:p>
            <a:r>
              <a:rPr lang="en-US"/>
              <a:t>media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(e.g., Microsoft Video Authenticator)</a:t>
            </a:r>
          </a:p>
          <a:p>
            <a:endParaRPr lang="en-US"/>
          </a:p>
          <a:p>
            <a:r>
              <a:rPr lang="en-US"/>
              <a:t>2. – teaching people to spot fakes</a:t>
            </a:r>
          </a:p>
          <a:p>
            <a:endParaRPr lang="en-US"/>
          </a:p>
          <a:p>
            <a:r>
              <a:rPr lang="en-US"/>
              <a:t>3. – laws to criminalize malicious use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5.svg"/><Relationship Id="rId10" Type="http://schemas.openxmlformats.org/officeDocument/2006/relationships/image" Target="../media/image14.svg"/><Relationship Id="rId4" Type="http://schemas.openxmlformats.org/officeDocument/2006/relationships/image" Target="../media/image4.sv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1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4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2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7.svg"/><Relationship Id="rId7" Type="http://schemas.openxmlformats.org/officeDocument/2006/relationships/image" Target="../media/image4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8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7.svg"/><Relationship Id="rId7" Type="http://schemas.openxmlformats.org/officeDocument/2006/relationships/image" Target="../media/image4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8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12" Type="http://schemas.openxmlformats.org/officeDocument/2006/relationships/image" Target="../media/image1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4.svg"/><Relationship Id="rId5" Type="http://schemas.openxmlformats.org/officeDocument/2006/relationships/image" Target="../media/image5.svg"/><Relationship Id="rId10" Type="http://schemas.openxmlformats.org/officeDocument/2006/relationships/image" Target="../media/image12.svg"/><Relationship Id="rId4" Type="http://schemas.openxmlformats.org/officeDocument/2006/relationships/image" Target="../media/image4.sv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22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23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12" Type="http://schemas.openxmlformats.org/officeDocument/2006/relationships/image" Target="../media/image1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3.svg"/><Relationship Id="rId5" Type="http://schemas.openxmlformats.org/officeDocument/2006/relationships/image" Target="../media/image5.svg"/><Relationship Id="rId10" Type="http://schemas.openxmlformats.org/officeDocument/2006/relationships/image" Target="../media/image12.svg"/><Relationship Id="rId4" Type="http://schemas.openxmlformats.org/officeDocument/2006/relationships/image" Target="../media/image4.svg"/><Relationship Id="rId9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2.sv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236705" y="6409875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2119274" y="3018974"/>
            <a:ext cx="13208005" cy="903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8"/>
              </a:lnSpc>
            </a:pPr>
            <a:r>
              <a:rPr lang="en-US" sz="7179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EVENT BOOKING SYSTEM</a:t>
            </a:r>
          </a:p>
        </p:txBody>
      </p:sp>
      <p:sp>
        <p:nvSpPr>
          <p:cNvPr id="17" name="Freeform 17"/>
          <p:cNvSpPr/>
          <p:nvPr/>
        </p:nvSpPr>
        <p:spPr>
          <a:xfrm>
            <a:off x="4432584" y="1535654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3446352" y="4696875"/>
            <a:ext cx="3030677" cy="3080739"/>
          </a:xfrm>
          <a:custGeom>
            <a:avLst/>
            <a:gdLst/>
            <a:ahLst/>
            <a:cxnLst/>
            <a:rect l="l" t="t" r="r" b="b"/>
            <a:pathLst>
              <a:path w="3030677" h="3080739">
                <a:moveTo>
                  <a:pt x="0" y="0"/>
                </a:moveTo>
                <a:lnTo>
                  <a:pt x="3030677" y="0"/>
                </a:lnTo>
                <a:lnTo>
                  <a:pt x="3030677" y="3080739"/>
                </a:lnTo>
                <a:lnTo>
                  <a:pt x="0" y="3080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1822521" y="4380405"/>
            <a:ext cx="11872475" cy="374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6058" lvl="1" indent="-473029" algn="just">
              <a:lnSpc>
                <a:spcPts val="4951"/>
              </a:lnSpc>
              <a:buAutoNum type="arabicPeriod"/>
            </a:pPr>
            <a:r>
              <a:rPr lang="en-US" sz="4381" spc="43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Aaron - Backend &amp; Cloud</a:t>
            </a:r>
          </a:p>
          <a:p>
            <a:pPr marL="946058" lvl="1" indent="-473029" algn="just">
              <a:lnSpc>
                <a:spcPts val="4951"/>
              </a:lnSpc>
              <a:buAutoNum type="arabicPeriod"/>
            </a:pPr>
            <a:r>
              <a:rPr lang="en-US" sz="4381" spc="43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Tselmeg - Frontend &amp; AI Integration</a:t>
            </a:r>
          </a:p>
          <a:p>
            <a:pPr marL="946058" lvl="1" indent="-473029" algn="just">
              <a:lnSpc>
                <a:spcPts val="4951"/>
              </a:lnSpc>
              <a:buAutoNum type="arabicPeriod"/>
            </a:pPr>
            <a:r>
              <a:rPr lang="en-US" sz="4381" spc="43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Aisyah - QA Testing &amp; Validation</a:t>
            </a:r>
          </a:p>
          <a:p>
            <a:pPr marL="946058" lvl="1" indent="-473029" algn="just">
              <a:lnSpc>
                <a:spcPts val="4951"/>
              </a:lnSpc>
              <a:buAutoNum type="arabicPeriod"/>
            </a:pPr>
            <a:r>
              <a:rPr lang="en-US" sz="4381" spc="43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Hayyan - Architecture Diagram</a:t>
            </a:r>
          </a:p>
          <a:p>
            <a:pPr marL="946058" lvl="1" indent="-473029" algn="just">
              <a:lnSpc>
                <a:spcPts val="4951"/>
              </a:lnSpc>
              <a:buAutoNum type="arabicPeriod"/>
            </a:pPr>
            <a:r>
              <a:rPr lang="en-US" sz="4381" spc="43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Chalisa - Documentation &amp; PPT Design</a:t>
            </a:r>
          </a:p>
          <a:p>
            <a:pPr algn="just">
              <a:lnSpc>
                <a:spcPts val="4381"/>
              </a:lnSpc>
            </a:pPr>
            <a:endParaRPr lang="en-US" sz="4381" spc="43">
              <a:solidFill>
                <a:srgbClr val="19467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6757" y="5074942"/>
            <a:ext cx="2006151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3550312" y="4847579"/>
            <a:ext cx="502056" cy="5020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87050" y="4823914"/>
            <a:ext cx="502056" cy="50205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66084" y="4823914"/>
            <a:ext cx="502056" cy="50205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29144" y="4823914"/>
            <a:ext cx="502056" cy="50205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65853" y="5525913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15577" y="5525913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3035" y="6233938"/>
            <a:ext cx="2250086" cy="135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309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Manual booking systems are error-prone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90440" y="6243381"/>
            <a:ext cx="1986168" cy="1351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310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Difficult to scale with high demand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6084" y="5525913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0206" y="5652045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21" name="Freeform 21"/>
          <p:cNvSpPr/>
          <p:nvPr/>
        </p:nvSpPr>
        <p:spPr>
          <a:xfrm>
            <a:off x="-1573240" y="8893298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3" name="Freeform 23"/>
          <p:cNvSpPr/>
          <p:nvPr/>
        </p:nvSpPr>
        <p:spPr>
          <a:xfrm>
            <a:off x="-674156" y="-1322787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4" name="Freeform 24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>
            <a:off x="9653627" y="-3037933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 rot="-5400000">
            <a:off x="4745771" y="-187733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2932282" y="9271808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>
            <a:off x="1862841" y="2945472"/>
            <a:ext cx="4642836" cy="983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371"/>
              </a:lnSpc>
              <a:spcBef>
                <a:spcPct val="0"/>
              </a:spcBef>
            </a:pPr>
            <a:r>
              <a:rPr lang="en-US" sz="7599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98100" y="2945472"/>
            <a:ext cx="2989918" cy="983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7371"/>
              </a:lnSpc>
              <a:spcBef>
                <a:spcPct val="0"/>
              </a:spcBef>
            </a:pPr>
            <a:r>
              <a:rPr lang="en-US" sz="7599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GOAL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140022" y="4847579"/>
            <a:ext cx="502056" cy="502056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270854" y="4823914"/>
            <a:ext cx="502056" cy="502056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403869" y="4823914"/>
            <a:ext cx="502056" cy="502056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143097" y="6245771"/>
            <a:ext cx="2250086" cy="1808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309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Risk of overbooking and system failure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991380" y="5652045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164293" y="5649655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261128" y="5640213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724010" y="6471981"/>
            <a:ext cx="2250086" cy="894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309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Provide smooth user experience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473924" y="6493421"/>
            <a:ext cx="2250086" cy="894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309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Prevent overbooking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368274" y="6474371"/>
            <a:ext cx="2250086" cy="894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309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Ensure high availability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851488" y="6462538"/>
            <a:ext cx="2250086" cy="894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309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Build a scalable booking system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74084" y="2945472"/>
            <a:ext cx="739832" cy="983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7371"/>
              </a:lnSpc>
              <a:spcBef>
                <a:spcPct val="0"/>
              </a:spcBef>
            </a:pPr>
            <a:r>
              <a:rPr lang="en-US" sz="7599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&amp;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48571" y="-7444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119970" y="7275585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8" y="0"/>
                </a:lnTo>
                <a:lnTo>
                  <a:pt x="4899948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6887556" y="480936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873469" y="7960954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253648" y="1627864"/>
            <a:ext cx="11619821" cy="96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3"/>
              </a:lnSpc>
              <a:spcBef>
                <a:spcPct val="0"/>
              </a:spcBef>
            </a:pPr>
            <a:r>
              <a:rPr lang="en-US" sz="71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OVERALL SYSTEM FLOW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48756" y="3381807"/>
            <a:ext cx="14629605" cy="4579146"/>
            <a:chOff x="0" y="0"/>
            <a:chExt cx="19506141" cy="610552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110060" cy="2375541"/>
              <a:chOff x="0" y="0"/>
              <a:chExt cx="532059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3205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532059" h="406400">
                    <a:moveTo>
                      <a:pt x="169273" y="0"/>
                    </a:moveTo>
                    <a:lnTo>
                      <a:pt x="362786" y="0"/>
                    </a:lnTo>
                    <a:cubicBezTo>
                      <a:pt x="407680" y="0"/>
                      <a:pt x="450735" y="17834"/>
                      <a:pt x="482480" y="49579"/>
                    </a:cubicBezTo>
                    <a:cubicBezTo>
                      <a:pt x="514225" y="81324"/>
                      <a:pt x="532059" y="124379"/>
                      <a:pt x="532059" y="169273"/>
                    </a:cubicBezTo>
                    <a:lnTo>
                      <a:pt x="532059" y="237127"/>
                    </a:lnTo>
                    <a:cubicBezTo>
                      <a:pt x="532059" y="330614"/>
                      <a:pt x="456273" y="406400"/>
                      <a:pt x="362786" y="406400"/>
                    </a:cubicBezTo>
                    <a:lnTo>
                      <a:pt x="169273" y="406400"/>
                    </a:lnTo>
                    <a:cubicBezTo>
                      <a:pt x="75786" y="406400"/>
                      <a:pt x="0" y="330614"/>
                      <a:pt x="0" y="237127"/>
                    </a:cubicBezTo>
                    <a:lnTo>
                      <a:pt x="0" y="169273"/>
                    </a:lnTo>
                    <a:cubicBezTo>
                      <a:pt x="0" y="75786"/>
                      <a:pt x="75786" y="0"/>
                      <a:pt x="169273" y="0"/>
                    </a:cubicBezTo>
                    <a:close/>
                  </a:path>
                </a:pathLst>
              </a:custGeom>
              <a:solidFill>
                <a:srgbClr val="8AB7E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47625"/>
                <a:ext cx="532059" cy="358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90"/>
                  </a:lnSpc>
                </a:pPr>
                <a:r>
                  <a:rPr lang="en-US" sz="3000" spc="213">
                    <a:solidFill>
                      <a:srgbClr val="19467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User</a:t>
                </a:r>
              </a:p>
            </p:txBody>
          </p:sp>
        </p:grpSp>
        <p:sp>
          <p:nvSpPr>
            <p:cNvPr id="11" name="AutoShape 11"/>
            <p:cNvSpPr/>
            <p:nvPr/>
          </p:nvSpPr>
          <p:spPr>
            <a:xfrm>
              <a:off x="3110060" y="1434314"/>
              <a:ext cx="3292807" cy="29989"/>
            </a:xfrm>
            <a:prstGeom prst="line">
              <a:avLst/>
            </a:prstGeom>
            <a:ln w="63500" cap="flat">
              <a:solidFill>
                <a:srgbClr val="648E38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402867" y="29328"/>
              <a:ext cx="3110060" cy="2375541"/>
              <a:chOff x="0" y="0"/>
              <a:chExt cx="532059" cy="406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3205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532059" h="406400">
                    <a:moveTo>
                      <a:pt x="169273" y="0"/>
                    </a:moveTo>
                    <a:lnTo>
                      <a:pt x="362786" y="0"/>
                    </a:lnTo>
                    <a:cubicBezTo>
                      <a:pt x="407680" y="0"/>
                      <a:pt x="450735" y="17834"/>
                      <a:pt x="482480" y="49579"/>
                    </a:cubicBezTo>
                    <a:cubicBezTo>
                      <a:pt x="514225" y="81324"/>
                      <a:pt x="532059" y="124379"/>
                      <a:pt x="532059" y="169273"/>
                    </a:cubicBezTo>
                    <a:lnTo>
                      <a:pt x="532059" y="237127"/>
                    </a:lnTo>
                    <a:cubicBezTo>
                      <a:pt x="532059" y="330614"/>
                      <a:pt x="456273" y="406400"/>
                      <a:pt x="362786" y="406400"/>
                    </a:cubicBezTo>
                    <a:lnTo>
                      <a:pt x="169273" y="406400"/>
                    </a:lnTo>
                    <a:cubicBezTo>
                      <a:pt x="75786" y="406400"/>
                      <a:pt x="0" y="330614"/>
                      <a:pt x="0" y="237127"/>
                    </a:cubicBezTo>
                    <a:lnTo>
                      <a:pt x="0" y="169273"/>
                    </a:lnTo>
                    <a:cubicBezTo>
                      <a:pt x="0" y="75786"/>
                      <a:pt x="75786" y="0"/>
                      <a:pt x="169273" y="0"/>
                    </a:cubicBezTo>
                    <a:close/>
                  </a:path>
                </a:pathLst>
              </a:custGeom>
              <a:solidFill>
                <a:srgbClr val="8AB7E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47625"/>
                <a:ext cx="532059" cy="358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90"/>
                  </a:lnSpc>
                </a:pPr>
                <a:r>
                  <a:rPr lang="en-US" sz="3000" spc="213">
                    <a:solidFill>
                      <a:srgbClr val="19467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internet</a:t>
                </a:r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512927" y="1187770"/>
              <a:ext cx="2449653" cy="29328"/>
            </a:xfrm>
            <a:prstGeom prst="line">
              <a:avLst/>
            </a:prstGeom>
            <a:ln w="63500" cap="flat">
              <a:solidFill>
                <a:srgbClr val="648E38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402470" y="3666654"/>
              <a:ext cx="3110060" cy="2375541"/>
              <a:chOff x="0" y="0"/>
              <a:chExt cx="532059" cy="406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3205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532059" h="406400">
                    <a:moveTo>
                      <a:pt x="169273" y="0"/>
                    </a:moveTo>
                    <a:lnTo>
                      <a:pt x="362786" y="0"/>
                    </a:lnTo>
                    <a:cubicBezTo>
                      <a:pt x="407680" y="0"/>
                      <a:pt x="450735" y="17834"/>
                      <a:pt x="482480" y="49579"/>
                    </a:cubicBezTo>
                    <a:cubicBezTo>
                      <a:pt x="514225" y="81324"/>
                      <a:pt x="532059" y="124379"/>
                      <a:pt x="532059" y="169273"/>
                    </a:cubicBezTo>
                    <a:lnTo>
                      <a:pt x="532059" y="237127"/>
                    </a:lnTo>
                    <a:cubicBezTo>
                      <a:pt x="532059" y="330614"/>
                      <a:pt x="456273" y="406400"/>
                      <a:pt x="362786" y="406400"/>
                    </a:cubicBezTo>
                    <a:lnTo>
                      <a:pt x="169273" y="406400"/>
                    </a:lnTo>
                    <a:cubicBezTo>
                      <a:pt x="75786" y="406400"/>
                      <a:pt x="0" y="330614"/>
                      <a:pt x="0" y="237127"/>
                    </a:cubicBezTo>
                    <a:lnTo>
                      <a:pt x="0" y="169273"/>
                    </a:lnTo>
                    <a:cubicBezTo>
                      <a:pt x="0" y="75786"/>
                      <a:pt x="75786" y="0"/>
                      <a:pt x="169273" y="0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47625"/>
                <a:ext cx="532059" cy="358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90"/>
                  </a:lnSpc>
                </a:pPr>
                <a:r>
                  <a:rPr lang="en-US" sz="3000" spc="213">
                    <a:solidFill>
                      <a:srgbClr val="19467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ALB</a:t>
                </a:r>
              </a:p>
            </p:txBody>
          </p:sp>
        </p:grpSp>
        <p:sp>
          <p:nvSpPr>
            <p:cNvPr id="19" name="AutoShape 19"/>
            <p:cNvSpPr/>
            <p:nvPr/>
          </p:nvSpPr>
          <p:spPr>
            <a:xfrm flipH="1">
              <a:off x="9512927" y="4680313"/>
              <a:ext cx="1553688" cy="0"/>
            </a:xfrm>
            <a:prstGeom prst="line">
              <a:avLst/>
            </a:prstGeom>
            <a:ln w="63500" cap="flat">
              <a:solidFill>
                <a:srgbClr val="FF5757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1066615" y="3729988"/>
              <a:ext cx="3110060" cy="2375541"/>
              <a:chOff x="0" y="0"/>
              <a:chExt cx="532059" cy="4064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3205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532059" h="406400">
                    <a:moveTo>
                      <a:pt x="169273" y="0"/>
                    </a:moveTo>
                    <a:lnTo>
                      <a:pt x="362786" y="0"/>
                    </a:lnTo>
                    <a:cubicBezTo>
                      <a:pt x="407680" y="0"/>
                      <a:pt x="450735" y="17834"/>
                      <a:pt x="482480" y="49579"/>
                    </a:cubicBezTo>
                    <a:cubicBezTo>
                      <a:pt x="514225" y="81324"/>
                      <a:pt x="532059" y="124379"/>
                      <a:pt x="532059" y="169273"/>
                    </a:cubicBezTo>
                    <a:lnTo>
                      <a:pt x="532059" y="237127"/>
                    </a:lnTo>
                    <a:cubicBezTo>
                      <a:pt x="532059" y="330614"/>
                      <a:pt x="456273" y="406400"/>
                      <a:pt x="362786" y="406400"/>
                    </a:cubicBezTo>
                    <a:lnTo>
                      <a:pt x="169273" y="406400"/>
                    </a:lnTo>
                    <a:cubicBezTo>
                      <a:pt x="75786" y="406400"/>
                      <a:pt x="0" y="330614"/>
                      <a:pt x="0" y="237127"/>
                    </a:cubicBezTo>
                    <a:lnTo>
                      <a:pt x="0" y="169273"/>
                    </a:lnTo>
                    <a:cubicBezTo>
                      <a:pt x="0" y="75786"/>
                      <a:pt x="75786" y="0"/>
                      <a:pt x="169273" y="0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47625"/>
                <a:ext cx="532059" cy="358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90"/>
                  </a:lnSpc>
                </a:pPr>
                <a:endParaRPr/>
              </a:p>
              <a:p>
                <a:pPr algn="ctr">
                  <a:lnSpc>
                    <a:spcPts val="3090"/>
                  </a:lnSpc>
                </a:pPr>
                <a:r>
                  <a:rPr lang="en-US" sz="3000" spc="213">
                    <a:solidFill>
                      <a:srgbClr val="19467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EC2</a:t>
                </a:r>
              </a:p>
              <a:p>
                <a:pPr algn="ctr">
                  <a:lnSpc>
                    <a:spcPts val="3090"/>
                  </a:lnSpc>
                </a:pPr>
                <a:endParaRPr lang="en-US" sz="3000" spc="213">
                  <a:solidFill>
                    <a:srgbClr val="19467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sp>
          <p:nvSpPr>
            <p:cNvPr id="23" name="AutoShape 23"/>
            <p:cNvSpPr/>
            <p:nvPr/>
          </p:nvSpPr>
          <p:spPr>
            <a:xfrm flipH="1">
              <a:off x="14176675" y="4917758"/>
              <a:ext cx="2219405" cy="0"/>
            </a:xfrm>
            <a:prstGeom prst="line">
              <a:avLst/>
            </a:prstGeom>
            <a:ln w="63500" cap="flat">
              <a:solidFill>
                <a:srgbClr val="FF5757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6396080" y="3729988"/>
              <a:ext cx="3110060" cy="2375541"/>
              <a:chOff x="0" y="0"/>
              <a:chExt cx="532059" cy="406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3205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532059" h="406400">
                    <a:moveTo>
                      <a:pt x="169273" y="0"/>
                    </a:moveTo>
                    <a:lnTo>
                      <a:pt x="362786" y="0"/>
                    </a:lnTo>
                    <a:cubicBezTo>
                      <a:pt x="407680" y="0"/>
                      <a:pt x="450735" y="17834"/>
                      <a:pt x="482480" y="49579"/>
                    </a:cubicBezTo>
                    <a:cubicBezTo>
                      <a:pt x="514225" y="81324"/>
                      <a:pt x="532059" y="124379"/>
                      <a:pt x="532059" y="169273"/>
                    </a:cubicBezTo>
                    <a:lnTo>
                      <a:pt x="532059" y="237127"/>
                    </a:lnTo>
                    <a:cubicBezTo>
                      <a:pt x="532059" y="330614"/>
                      <a:pt x="456273" y="406400"/>
                      <a:pt x="362786" y="406400"/>
                    </a:cubicBezTo>
                    <a:lnTo>
                      <a:pt x="169273" y="406400"/>
                    </a:lnTo>
                    <a:cubicBezTo>
                      <a:pt x="75786" y="406400"/>
                      <a:pt x="0" y="330614"/>
                      <a:pt x="0" y="237127"/>
                    </a:cubicBezTo>
                    <a:lnTo>
                      <a:pt x="0" y="169273"/>
                    </a:lnTo>
                    <a:cubicBezTo>
                      <a:pt x="0" y="75786"/>
                      <a:pt x="75786" y="0"/>
                      <a:pt x="169273" y="0"/>
                    </a:cubicBezTo>
                    <a:close/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47625"/>
                <a:ext cx="532059" cy="358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90"/>
                  </a:lnSpc>
                </a:pPr>
                <a:endParaRPr/>
              </a:p>
              <a:p>
                <a:pPr algn="ctr">
                  <a:lnSpc>
                    <a:spcPts val="3090"/>
                  </a:lnSpc>
                </a:pPr>
                <a:r>
                  <a:rPr lang="en-US" sz="3000" spc="213">
                    <a:solidFill>
                      <a:srgbClr val="19467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RDS</a:t>
                </a:r>
              </a:p>
              <a:p>
                <a:pPr algn="ctr">
                  <a:lnSpc>
                    <a:spcPts val="3090"/>
                  </a:lnSpc>
                </a:pPr>
                <a:endParaRPr lang="en-US" sz="3000" spc="213">
                  <a:solidFill>
                    <a:srgbClr val="19467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1962580" y="29328"/>
              <a:ext cx="3063812" cy="2474244"/>
              <a:chOff x="0" y="0"/>
              <a:chExt cx="524147" cy="42328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24147" cy="423286"/>
              </a:xfrm>
              <a:custGeom>
                <a:avLst/>
                <a:gdLst/>
                <a:ahLst/>
                <a:cxnLst/>
                <a:rect l="l" t="t" r="r" b="b"/>
                <a:pathLst>
                  <a:path w="524147" h="423286">
                    <a:moveTo>
                      <a:pt x="171829" y="0"/>
                    </a:moveTo>
                    <a:lnTo>
                      <a:pt x="352319" y="0"/>
                    </a:lnTo>
                    <a:cubicBezTo>
                      <a:pt x="447217" y="0"/>
                      <a:pt x="524147" y="76930"/>
                      <a:pt x="524147" y="171829"/>
                    </a:cubicBezTo>
                    <a:lnTo>
                      <a:pt x="524147" y="251457"/>
                    </a:lnTo>
                    <a:cubicBezTo>
                      <a:pt x="524147" y="297029"/>
                      <a:pt x="506044" y="340734"/>
                      <a:pt x="473820" y="372958"/>
                    </a:cubicBezTo>
                    <a:cubicBezTo>
                      <a:pt x="441596" y="405183"/>
                      <a:pt x="397890" y="423286"/>
                      <a:pt x="352319" y="423286"/>
                    </a:cubicBezTo>
                    <a:lnTo>
                      <a:pt x="171829" y="423286"/>
                    </a:lnTo>
                    <a:cubicBezTo>
                      <a:pt x="76930" y="423286"/>
                      <a:pt x="0" y="346356"/>
                      <a:pt x="0" y="251457"/>
                    </a:cubicBezTo>
                    <a:lnTo>
                      <a:pt x="0" y="171829"/>
                    </a:lnTo>
                    <a:cubicBezTo>
                      <a:pt x="0" y="76930"/>
                      <a:pt x="76930" y="0"/>
                      <a:pt x="171829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47625"/>
                <a:ext cx="524147" cy="3756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90"/>
                  </a:lnSpc>
                </a:pPr>
                <a:endParaRPr/>
              </a:p>
              <a:p>
                <a:pPr algn="ctr">
                  <a:lnSpc>
                    <a:spcPts val="3090"/>
                  </a:lnSpc>
                </a:pPr>
                <a:r>
                  <a:rPr lang="en-US" sz="3000" spc="213">
                    <a:solidFill>
                      <a:srgbClr val="194671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S3</a:t>
                </a:r>
              </a:p>
              <a:p>
                <a:pPr algn="ctr">
                  <a:lnSpc>
                    <a:spcPts val="3090"/>
                  </a:lnSpc>
                </a:pPr>
                <a:endParaRPr lang="en-US" sz="3000" spc="213">
                  <a:solidFill>
                    <a:srgbClr val="19467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algn="ctr">
                  <a:lnSpc>
                    <a:spcPts val="3090"/>
                  </a:lnSpc>
                </a:pPr>
                <a:endParaRPr lang="en-US" sz="3000" spc="213">
                  <a:solidFill>
                    <a:srgbClr val="194671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sp>
          <p:nvSpPr>
            <p:cNvPr id="30" name="AutoShape 30"/>
            <p:cNvSpPr/>
            <p:nvPr/>
          </p:nvSpPr>
          <p:spPr>
            <a:xfrm flipV="1">
              <a:off x="7957501" y="2404868"/>
              <a:ext cx="396" cy="1261785"/>
            </a:xfrm>
            <a:prstGeom prst="line">
              <a:avLst/>
            </a:prstGeom>
            <a:ln w="63500" cap="flat">
              <a:solidFill>
                <a:srgbClr val="FF5757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197896" y="1492878"/>
              <a:ext cx="2591594" cy="714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0"/>
                </a:lnSpc>
              </a:pPr>
              <a:r>
                <a:rPr lang="en-US" sz="2000" b="1">
                  <a:solidFill>
                    <a:srgbClr val="09325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Frontend</a:t>
              </a:r>
            </a:p>
            <a:p>
              <a:pPr algn="ctr">
                <a:lnSpc>
                  <a:spcPts val="206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9325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(static content)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88845" y="2719037"/>
              <a:ext cx="2419120" cy="662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845" b="1">
                  <a:solidFill>
                    <a:srgbClr val="19467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API Requests</a:t>
              </a:r>
            </a:p>
            <a:p>
              <a:pPr algn="ctr">
                <a:lnSpc>
                  <a:spcPts val="1900"/>
                </a:lnSpc>
                <a:spcBef>
                  <a:spcPct val="0"/>
                </a:spcBef>
              </a:pPr>
              <a:r>
                <a:rPr lang="en-US" sz="1845" b="1">
                  <a:solidFill>
                    <a:srgbClr val="19467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(Booking,Login)</a:t>
              </a:r>
            </a:p>
          </p:txBody>
        </p:sp>
        <p:sp>
          <p:nvSpPr>
            <p:cNvPr id="33" name="AutoShape 33"/>
            <p:cNvSpPr/>
            <p:nvPr/>
          </p:nvSpPr>
          <p:spPr>
            <a:xfrm flipV="1">
              <a:off x="14175913" y="5489529"/>
              <a:ext cx="2220167" cy="0"/>
            </a:xfrm>
            <a:prstGeom prst="line">
              <a:avLst/>
            </a:prstGeom>
            <a:ln w="50800" cap="flat">
              <a:solidFill>
                <a:srgbClr val="CB6CE6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AutoShape 34"/>
            <p:cNvSpPr/>
            <p:nvPr/>
          </p:nvSpPr>
          <p:spPr>
            <a:xfrm flipV="1">
              <a:off x="9512927" y="5524492"/>
              <a:ext cx="1557077" cy="8320"/>
            </a:xfrm>
            <a:prstGeom prst="line">
              <a:avLst/>
            </a:prstGeom>
            <a:ln w="50800" cap="flat">
              <a:solidFill>
                <a:srgbClr val="CB6CE6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7173394" y="2404868"/>
              <a:ext cx="0" cy="1140148"/>
            </a:xfrm>
            <a:prstGeom prst="line">
              <a:avLst/>
            </a:prstGeom>
            <a:ln w="50800" cap="flat">
              <a:solidFill>
                <a:srgbClr val="CB6CE6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9512927" y="789937"/>
              <a:ext cx="2480174" cy="0"/>
            </a:xfrm>
            <a:prstGeom prst="line">
              <a:avLst/>
            </a:prstGeom>
            <a:ln w="50800" cap="flat">
              <a:solidFill>
                <a:srgbClr val="CB6CE6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3110060" y="760610"/>
              <a:ext cx="3292807" cy="0"/>
            </a:xfrm>
            <a:prstGeom prst="line">
              <a:avLst/>
            </a:prstGeom>
            <a:ln w="50800" cap="flat">
              <a:solidFill>
                <a:srgbClr val="CB6CE6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4747568">
            <a:off x="-2927443" y="3610972"/>
            <a:ext cx="4554188" cy="2544652"/>
          </a:xfrm>
          <a:custGeom>
            <a:avLst/>
            <a:gdLst/>
            <a:ahLst/>
            <a:cxnLst/>
            <a:rect l="l" t="t" r="r" b="b"/>
            <a:pathLst>
              <a:path w="4554188" h="2544652">
                <a:moveTo>
                  <a:pt x="0" y="0"/>
                </a:moveTo>
                <a:lnTo>
                  <a:pt x="4554188" y="0"/>
                </a:lnTo>
                <a:lnTo>
                  <a:pt x="4554188" y="2544653"/>
                </a:lnTo>
                <a:lnTo>
                  <a:pt x="0" y="25446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7579677" y="7183137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717587" y="74973"/>
            <a:ext cx="14852826" cy="10137054"/>
          </a:xfrm>
          <a:custGeom>
            <a:avLst/>
            <a:gdLst/>
            <a:ahLst/>
            <a:cxnLst/>
            <a:rect l="l" t="t" r="r" b="b"/>
            <a:pathLst>
              <a:path w="14852826" h="10137054">
                <a:moveTo>
                  <a:pt x="0" y="0"/>
                </a:moveTo>
                <a:lnTo>
                  <a:pt x="14852826" y="0"/>
                </a:lnTo>
                <a:lnTo>
                  <a:pt x="14852826" y="10137054"/>
                </a:lnTo>
                <a:lnTo>
                  <a:pt x="0" y="101370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794683" y="1430523"/>
            <a:ext cx="468035" cy="8451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H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U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</a:p>
          <a:p>
            <a:pPr algn="ctr">
              <a:lnSpc>
                <a:spcPts val="5150"/>
              </a:lnSpc>
            </a:pPr>
            <a:r>
              <a:rPr lang="en-US" sz="50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</a:p>
          <a:p>
            <a:pPr algn="ctr">
              <a:lnSpc>
                <a:spcPts val="5150"/>
              </a:lnSpc>
              <a:spcBef>
                <a:spcPct val="0"/>
              </a:spcBef>
            </a:pPr>
            <a:endParaRPr lang="en-US" sz="5000" b="1">
              <a:solidFill>
                <a:srgbClr val="8AB7E2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938923" y="3036674"/>
            <a:ext cx="640754" cy="525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5"/>
              </a:lnSpc>
            </a:pPr>
            <a:r>
              <a:rPr lang="en-US" sz="5713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</a:p>
          <a:p>
            <a:pPr algn="ctr">
              <a:lnSpc>
                <a:spcPts val="5885"/>
              </a:lnSpc>
            </a:pPr>
            <a:r>
              <a:rPr lang="en-US" sz="5713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</a:p>
          <a:p>
            <a:pPr algn="ctr">
              <a:lnSpc>
                <a:spcPts val="5885"/>
              </a:lnSpc>
            </a:pPr>
            <a:r>
              <a:rPr lang="en-US" sz="5713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</a:p>
          <a:p>
            <a:pPr algn="ctr">
              <a:lnSpc>
                <a:spcPts val="5885"/>
              </a:lnSpc>
            </a:pPr>
            <a:r>
              <a:rPr lang="en-US" sz="5713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G</a:t>
            </a:r>
          </a:p>
          <a:p>
            <a:pPr algn="ctr">
              <a:lnSpc>
                <a:spcPts val="5885"/>
              </a:lnSpc>
            </a:pPr>
            <a:r>
              <a:rPr lang="en-US" sz="5713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</a:p>
          <a:p>
            <a:pPr algn="ctr">
              <a:lnSpc>
                <a:spcPts val="5885"/>
              </a:lnSpc>
            </a:pPr>
            <a:r>
              <a:rPr lang="en-US" sz="5713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</a:p>
          <a:p>
            <a:pPr algn="ctr">
              <a:lnSpc>
                <a:spcPts val="5885"/>
              </a:lnSpc>
              <a:spcBef>
                <a:spcPct val="0"/>
              </a:spcBef>
            </a:pPr>
            <a:r>
              <a:rPr lang="en-US" sz="5713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092" y="5766845"/>
            <a:ext cx="7204671" cy="213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1"/>
              </a:lnSpc>
            </a:pPr>
            <a:r>
              <a:rPr lang="en-US" sz="8362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</a:t>
            </a:r>
          </a:p>
          <a:p>
            <a:pPr algn="l">
              <a:lnSpc>
                <a:spcPts val="8111"/>
              </a:lnSpc>
            </a:pPr>
            <a:r>
              <a:rPr lang="en-US" sz="8362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FEATURES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247108" y="3390548"/>
            <a:ext cx="11496598" cy="1752952"/>
            <a:chOff x="0" y="0"/>
            <a:chExt cx="3848581" cy="5868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48581" cy="586815"/>
            </a:xfrm>
            <a:custGeom>
              <a:avLst/>
              <a:gdLst/>
              <a:ahLst/>
              <a:cxnLst/>
              <a:rect l="l" t="t" r="r" b="b"/>
              <a:pathLst>
                <a:path w="3848581" h="586815">
                  <a:moveTo>
                    <a:pt x="10101" y="0"/>
                  </a:moveTo>
                  <a:lnTo>
                    <a:pt x="3838479" y="0"/>
                  </a:lnTo>
                  <a:cubicBezTo>
                    <a:pt x="3841159" y="0"/>
                    <a:pt x="3843728" y="1064"/>
                    <a:pt x="3845622" y="2959"/>
                  </a:cubicBezTo>
                  <a:cubicBezTo>
                    <a:pt x="3847516" y="4853"/>
                    <a:pt x="3848581" y="7422"/>
                    <a:pt x="3848581" y="10101"/>
                  </a:cubicBezTo>
                  <a:lnTo>
                    <a:pt x="3848581" y="576714"/>
                  </a:lnTo>
                  <a:cubicBezTo>
                    <a:pt x="3848581" y="582293"/>
                    <a:pt x="3844058" y="586815"/>
                    <a:pt x="3838479" y="586815"/>
                  </a:cubicBezTo>
                  <a:lnTo>
                    <a:pt x="10101" y="586815"/>
                  </a:lnTo>
                  <a:cubicBezTo>
                    <a:pt x="4522" y="586815"/>
                    <a:pt x="0" y="582293"/>
                    <a:pt x="0" y="576714"/>
                  </a:cubicBezTo>
                  <a:lnTo>
                    <a:pt x="0" y="10101"/>
                  </a:lnTo>
                  <a:cubicBezTo>
                    <a:pt x="0" y="4522"/>
                    <a:pt x="4522" y="0"/>
                    <a:pt x="10101" y="0"/>
                  </a:cubicBezTo>
                  <a:close/>
                </a:path>
              </a:pathLst>
            </a:custGeom>
            <a:solidFill>
              <a:srgbClr val="8AB7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3848581" cy="501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46668" y="784565"/>
            <a:ext cx="11935076" cy="1752952"/>
            <a:chOff x="0" y="0"/>
            <a:chExt cx="3995365" cy="5868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95365" cy="586815"/>
            </a:xfrm>
            <a:custGeom>
              <a:avLst/>
              <a:gdLst/>
              <a:ahLst/>
              <a:cxnLst/>
              <a:rect l="l" t="t" r="r" b="b"/>
              <a:pathLst>
                <a:path w="3995365" h="586815">
                  <a:moveTo>
                    <a:pt x="9730" y="0"/>
                  </a:moveTo>
                  <a:lnTo>
                    <a:pt x="3985635" y="0"/>
                  </a:lnTo>
                  <a:cubicBezTo>
                    <a:pt x="3988215" y="0"/>
                    <a:pt x="3990691" y="1025"/>
                    <a:pt x="3992515" y="2850"/>
                  </a:cubicBezTo>
                  <a:cubicBezTo>
                    <a:pt x="3994340" y="4675"/>
                    <a:pt x="3995365" y="7149"/>
                    <a:pt x="3995365" y="9730"/>
                  </a:cubicBezTo>
                  <a:lnTo>
                    <a:pt x="3995365" y="577085"/>
                  </a:lnTo>
                  <a:cubicBezTo>
                    <a:pt x="3995365" y="579666"/>
                    <a:pt x="3994340" y="582141"/>
                    <a:pt x="3992515" y="583965"/>
                  </a:cubicBezTo>
                  <a:cubicBezTo>
                    <a:pt x="3990691" y="585790"/>
                    <a:pt x="3988215" y="586815"/>
                    <a:pt x="3985635" y="586815"/>
                  </a:cubicBezTo>
                  <a:lnTo>
                    <a:pt x="9730" y="586815"/>
                  </a:lnTo>
                  <a:cubicBezTo>
                    <a:pt x="7149" y="586815"/>
                    <a:pt x="4675" y="585790"/>
                    <a:pt x="2850" y="583965"/>
                  </a:cubicBezTo>
                  <a:cubicBezTo>
                    <a:pt x="1025" y="582141"/>
                    <a:pt x="0" y="579666"/>
                    <a:pt x="0" y="577085"/>
                  </a:cubicBezTo>
                  <a:lnTo>
                    <a:pt x="0" y="9730"/>
                  </a:lnTo>
                  <a:cubicBezTo>
                    <a:pt x="0" y="7149"/>
                    <a:pt x="1025" y="4675"/>
                    <a:pt x="2850" y="2850"/>
                  </a:cubicBezTo>
                  <a:cubicBezTo>
                    <a:pt x="4675" y="1025"/>
                    <a:pt x="7149" y="0"/>
                    <a:pt x="9730" y="0"/>
                  </a:cubicBezTo>
                  <a:close/>
                </a:path>
              </a:pathLst>
            </a:custGeom>
            <a:solidFill>
              <a:srgbClr val="8AB7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5725"/>
              <a:ext cx="3995365" cy="501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963381" y="1312746"/>
            <a:ext cx="1303394" cy="84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604" b="1" spc="-54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43003" y="5595395"/>
            <a:ext cx="9838741" cy="1767147"/>
            <a:chOff x="0" y="0"/>
            <a:chExt cx="3293600" cy="5915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93600" cy="591567"/>
            </a:xfrm>
            <a:custGeom>
              <a:avLst/>
              <a:gdLst/>
              <a:ahLst/>
              <a:cxnLst/>
              <a:rect l="l" t="t" r="r" b="b"/>
              <a:pathLst>
                <a:path w="3293600" h="591567">
                  <a:moveTo>
                    <a:pt x="11803" y="0"/>
                  </a:moveTo>
                  <a:lnTo>
                    <a:pt x="3281797" y="0"/>
                  </a:lnTo>
                  <a:cubicBezTo>
                    <a:pt x="3288315" y="0"/>
                    <a:pt x="3293600" y="5284"/>
                    <a:pt x="3293600" y="11803"/>
                  </a:cubicBezTo>
                  <a:lnTo>
                    <a:pt x="3293600" y="579764"/>
                  </a:lnTo>
                  <a:cubicBezTo>
                    <a:pt x="3293600" y="586282"/>
                    <a:pt x="3288315" y="591567"/>
                    <a:pt x="3281797" y="591567"/>
                  </a:cubicBezTo>
                  <a:lnTo>
                    <a:pt x="11803" y="591567"/>
                  </a:lnTo>
                  <a:cubicBezTo>
                    <a:pt x="5284" y="591567"/>
                    <a:pt x="0" y="586282"/>
                    <a:pt x="0" y="579764"/>
                  </a:cubicBezTo>
                  <a:lnTo>
                    <a:pt x="0" y="11803"/>
                  </a:lnTo>
                  <a:cubicBezTo>
                    <a:pt x="0" y="5284"/>
                    <a:pt x="5284" y="0"/>
                    <a:pt x="11803" y="0"/>
                  </a:cubicBezTo>
                  <a:close/>
                </a:path>
              </a:pathLst>
            </a:custGeom>
            <a:solidFill>
              <a:srgbClr val="8AB7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5725"/>
              <a:ext cx="3293600" cy="505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53857" y="8041363"/>
            <a:ext cx="9289848" cy="1720799"/>
            <a:chOff x="0" y="0"/>
            <a:chExt cx="3109853" cy="57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09853" cy="576052"/>
            </a:xfrm>
            <a:custGeom>
              <a:avLst/>
              <a:gdLst/>
              <a:ahLst/>
              <a:cxnLst/>
              <a:rect l="l" t="t" r="r" b="b"/>
              <a:pathLst>
                <a:path w="3109853" h="576052">
                  <a:moveTo>
                    <a:pt x="12501" y="0"/>
                  </a:moveTo>
                  <a:lnTo>
                    <a:pt x="3097352" y="0"/>
                  </a:lnTo>
                  <a:cubicBezTo>
                    <a:pt x="3104256" y="0"/>
                    <a:pt x="3109853" y="5597"/>
                    <a:pt x="3109853" y="12501"/>
                  </a:cubicBezTo>
                  <a:lnTo>
                    <a:pt x="3109853" y="563551"/>
                  </a:lnTo>
                  <a:cubicBezTo>
                    <a:pt x="3109853" y="570455"/>
                    <a:pt x="3104256" y="576052"/>
                    <a:pt x="3097352" y="576052"/>
                  </a:cubicBezTo>
                  <a:lnTo>
                    <a:pt x="12501" y="576052"/>
                  </a:lnTo>
                  <a:cubicBezTo>
                    <a:pt x="9185" y="576052"/>
                    <a:pt x="6006" y="574735"/>
                    <a:pt x="3661" y="572390"/>
                  </a:cubicBezTo>
                  <a:cubicBezTo>
                    <a:pt x="1317" y="570046"/>
                    <a:pt x="0" y="566866"/>
                    <a:pt x="0" y="563551"/>
                  </a:cubicBezTo>
                  <a:lnTo>
                    <a:pt x="0" y="12501"/>
                  </a:lnTo>
                  <a:cubicBezTo>
                    <a:pt x="0" y="5597"/>
                    <a:pt x="5597" y="0"/>
                    <a:pt x="12501" y="0"/>
                  </a:cubicBezTo>
                  <a:close/>
                </a:path>
              </a:pathLst>
            </a:custGeom>
            <a:solidFill>
              <a:srgbClr val="8AB7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85725"/>
              <a:ext cx="3109853" cy="490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266775" y="1170504"/>
            <a:ext cx="8992525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24"/>
              </a:lnSpc>
              <a:spcBef>
                <a:spcPct val="0"/>
              </a:spcBef>
            </a:pPr>
            <a:r>
              <a:rPr lang="en-US" sz="5499" spc="87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Browse available events</a:t>
            </a:r>
          </a:p>
        </p:txBody>
      </p:sp>
      <p:sp>
        <p:nvSpPr>
          <p:cNvPr id="17" name="Freeform 17"/>
          <p:cNvSpPr/>
          <p:nvPr/>
        </p:nvSpPr>
        <p:spPr>
          <a:xfrm>
            <a:off x="-848571" y="8919661"/>
            <a:ext cx="3870946" cy="950141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4472906" y="-2364815"/>
            <a:ext cx="4980952" cy="3731186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3431074" y="8919661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-848571" y="-7444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7840606" y="3918728"/>
            <a:ext cx="1303394" cy="84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604" b="1" spc="-54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0" y="6153150"/>
            <a:ext cx="1303394" cy="84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604" b="1" spc="-54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47394" y="6010908"/>
            <a:ext cx="6368246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24"/>
              </a:lnSpc>
              <a:spcBef>
                <a:spcPct val="0"/>
              </a:spcBef>
            </a:pPr>
            <a:r>
              <a:rPr lang="en-US" sz="5499" spc="87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Admin Dashboard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99091" y="8429123"/>
            <a:ext cx="728265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24"/>
              </a:lnSpc>
              <a:spcBef>
                <a:spcPct val="0"/>
              </a:spcBef>
            </a:pPr>
            <a:r>
              <a:rPr lang="en-US" sz="5499" spc="87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Prevent Overbooking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95697" y="8571365"/>
            <a:ext cx="1303394" cy="84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604" b="1" spc="-54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44000" y="3776486"/>
            <a:ext cx="8992525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24"/>
              </a:lnSpc>
              <a:spcBef>
                <a:spcPct val="0"/>
              </a:spcBef>
            </a:pPr>
            <a:r>
              <a:rPr lang="en-US" sz="5499" spc="87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Book tickets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731675"/>
            <a:ext cx="3379451" cy="3410455"/>
          </a:xfrm>
          <a:custGeom>
            <a:avLst/>
            <a:gdLst/>
            <a:ahLst/>
            <a:cxnLst/>
            <a:rect l="l" t="t" r="r" b="b"/>
            <a:pathLst>
              <a:path w="3379451" h="3410455">
                <a:moveTo>
                  <a:pt x="0" y="0"/>
                </a:moveTo>
                <a:lnTo>
                  <a:pt x="3379451" y="0"/>
                </a:lnTo>
                <a:lnTo>
                  <a:pt x="3379451" y="3410455"/>
                </a:lnTo>
                <a:lnTo>
                  <a:pt x="0" y="3410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6586805"/>
            <a:ext cx="3376428" cy="3700195"/>
          </a:xfrm>
          <a:custGeom>
            <a:avLst/>
            <a:gdLst/>
            <a:ahLst/>
            <a:cxnLst/>
            <a:rect l="l" t="t" r="r" b="b"/>
            <a:pathLst>
              <a:path w="3376428" h="3700195">
                <a:moveTo>
                  <a:pt x="0" y="0"/>
                </a:moveTo>
                <a:lnTo>
                  <a:pt x="3376428" y="0"/>
                </a:lnTo>
                <a:lnTo>
                  <a:pt x="3376428" y="3700195"/>
                </a:lnTo>
                <a:lnTo>
                  <a:pt x="0" y="3700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28700" y="3389642"/>
            <a:ext cx="6404593" cy="3342033"/>
          </a:xfrm>
          <a:custGeom>
            <a:avLst/>
            <a:gdLst/>
            <a:ahLst/>
            <a:cxnLst/>
            <a:rect l="l" t="t" r="r" b="b"/>
            <a:pathLst>
              <a:path w="6404593" h="3342033">
                <a:moveTo>
                  <a:pt x="0" y="0"/>
                </a:moveTo>
                <a:lnTo>
                  <a:pt x="6404593" y="0"/>
                </a:lnTo>
                <a:lnTo>
                  <a:pt x="6404593" y="3342033"/>
                </a:lnTo>
                <a:lnTo>
                  <a:pt x="0" y="3342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6653256" y="5709980"/>
            <a:ext cx="6631433" cy="3460402"/>
          </a:xfrm>
          <a:custGeom>
            <a:avLst/>
            <a:gdLst/>
            <a:ahLst/>
            <a:cxnLst/>
            <a:rect l="l" t="t" r="r" b="b"/>
            <a:pathLst>
              <a:path w="6631433" h="3460402">
                <a:moveTo>
                  <a:pt x="0" y="0"/>
                </a:moveTo>
                <a:lnTo>
                  <a:pt x="6631432" y="0"/>
                </a:lnTo>
                <a:lnTo>
                  <a:pt x="6631432" y="3460403"/>
                </a:lnTo>
                <a:lnTo>
                  <a:pt x="0" y="3460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1317711" y="3356641"/>
            <a:ext cx="6467835" cy="3375034"/>
          </a:xfrm>
          <a:custGeom>
            <a:avLst/>
            <a:gdLst/>
            <a:ahLst/>
            <a:cxnLst/>
            <a:rect l="l" t="t" r="r" b="b"/>
            <a:pathLst>
              <a:path w="6467835" h="3375034">
                <a:moveTo>
                  <a:pt x="0" y="0"/>
                </a:moveTo>
                <a:lnTo>
                  <a:pt x="6467835" y="0"/>
                </a:lnTo>
                <a:lnTo>
                  <a:pt x="6467835" y="3375034"/>
                </a:lnTo>
                <a:lnTo>
                  <a:pt x="0" y="337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3526230" y="-20574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2193588" y="-1459650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-696171" y="-5920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4647172" y="91703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1254672" y="9626820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7" y="0"/>
                </a:lnTo>
                <a:lnTo>
                  <a:pt x="3296957" y="809253"/>
                </a:lnTo>
                <a:lnTo>
                  <a:pt x="0" y="809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688214" y="4665415"/>
            <a:ext cx="5447200" cy="1259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551" lvl="1" indent="-266775" algn="l">
              <a:lnSpc>
                <a:spcPts val="3336"/>
              </a:lnSpc>
              <a:buFont typeface="Arial"/>
              <a:buChar char="•"/>
            </a:pPr>
            <a:r>
              <a:rPr lang="en-US" sz="2471" spc="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AI-assisted event description</a:t>
            </a:r>
          </a:p>
          <a:p>
            <a:pPr marL="533551" lvl="1" indent="-266775" algn="l">
              <a:lnSpc>
                <a:spcPts val="3336"/>
              </a:lnSpc>
              <a:buFont typeface="Arial"/>
              <a:buChar char="•"/>
            </a:pPr>
            <a:r>
              <a:rPr lang="en-US" sz="2471" spc="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Natural language search</a:t>
            </a:r>
          </a:p>
          <a:p>
            <a:pPr marL="533551" lvl="1" indent="-266775" algn="l">
              <a:lnSpc>
                <a:spcPts val="3336"/>
              </a:lnSpc>
              <a:spcBef>
                <a:spcPct val="0"/>
              </a:spcBef>
              <a:buFont typeface="Arial"/>
              <a:buChar char="•"/>
            </a:pPr>
            <a:r>
              <a:rPr lang="en-US" sz="2471" spc="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Basic event interaction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5414" y="7052155"/>
            <a:ext cx="5851396" cy="1064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2824" lvl="1" indent="-336412" algn="l">
              <a:lnSpc>
                <a:spcPts val="4207"/>
              </a:lnSpc>
              <a:buFont typeface="Arial"/>
              <a:buChar char="•"/>
            </a:pPr>
            <a:r>
              <a:rPr lang="en-US" sz="3116" spc="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Improved content quality</a:t>
            </a:r>
          </a:p>
          <a:p>
            <a:pPr marL="672824" lvl="1" indent="-336412" algn="l">
              <a:lnSpc>
                <a:spcPts val="4207"/>
              </a:lnSpc>
              <a:spcBef>
                <a:spcPct val="0"/>
              </a:spcBef>
              <a:buFont typeface="Arial"/>
              <a:buChar char="•"/>
            </a:pPr>
            <a:r>
              <a:rPr lang="en-US" sz="3116" spc="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Better user experience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71901" y="4942178"/>
            <a:ext cx="5187399" cy="982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003" lvl="1" indent="-315002" algn="l">
              <a:lnSpc>
                <a:spcPts val="3939"/>
              </a:lnSpc>
              <a:buFont typeface="Arial"/>
              <a:buChar char="•"/>
            </a:pPr>
            <a:r>
              <a:rPr lang="en-US" sz="2918" spc="4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Backend API integration</a:t>
            </a:r>
          </a:p>
          <a:p>
            <a:pPr marL="630003" lvl="1" indent="-315002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8" spc="4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External AI 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81723" y="1880086"/>
            <a:ext cx="10924555" cy="1022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7845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AI ENHANCEMENTS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11743" y="3112598"/>
            <a:ext cx="5679770" cy="184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3"/>
              </a:lnSpc>
            </a:pPr>
            <a:r>
              <a:rPr lang="en-US" sz="5199" b="1" spc="1336">
                <a:solidFill>
                  <a:srgbClr val="1946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intergration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77384" y="5505257"/>
            <a:ext cx="3784300" cy="132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5"/>
              </a:lnSpc>
            </a:pPr>
            <a:r>
              <a:rPr lang="en-US" sz="5936" b="1" spc="1525">
                <a:solidFill>
                  <a:srgbClr val="1946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89728" y="3112598"/>
            <a:ext cx="4082536" cy="132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3"/>
              </a:lnSpc>
            </a:pPr>
            <a:r>
              <a:rPr lang="en-US" sz="5199" b="1" spc="1336">
                <a:solidFill>
                  <a:srgbClr val="1946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731675"/>
            <a:ext cx="3379451" cy="3410455"/>
          </a:xfrm>
          <a:custGeom>
            <a:avLst/>
            <a:gdLst/>
            <a:ahLst/>
            <a:cxnLst/>
            <a:rect l="l" t="t" r="r" b="b"/>
            <a:pathLst>
              <a:path w="3379451" h="3410455">
                <a:moveTo>
                  <a:pt x="0" y="0"/>
                </a:moveTo>
                <a:lnTo>
                  <a:pt x="3379451" y="0"/>
                </a:lnTo>
                <a:lnTo>
                  <a:pt x="3379451" y="3410455"/>
                </a:lnTo>
                <a:lnTo>
                  <a:pt x="0" y="3410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6586805"/>
            <a:ext cx="3376428" cy="3700195"/>
          </a:xfrm>
          <a:custGeom>
            <a:avLst/>
            <a:gdLst/>
            <a:ahLst/>
            <a:cxnLst/>
            <a:rect l="l" t="t" r="r" b="b"/>
            <a:pathLst>
              <a:path w="3376428" h="3700195">
                <a:moveTo>
                  <a:pt x="0" y="0"/>
                </a:moveTo>
                <a:lnTo>
                  <a:pt x="3376428" y="0"/>
                </a:lnTo>
                <a:lnTo>
                  <a:pt x="3376428" y="3700195"/>
                </a:lnTo>
                <a:lnTo>
                  <a:pt x="0" y="37001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55416" y="3283718"/>
            <a:ext cx="5989677" cy="3125523"/>
          </a:xfrm>
          <a:custGeom>
            <a:avLst/>
            <a:gdLst/>
            <a:ahLst/>
            <a:cxnLst/>
            <a:rect l="l" t="t" r="r" b="b"/>
            <a:pathLst>
              <a:path w="5989677" h="3125523">
                <a:moveTo>
                  <a:pt x="0" y="0"/>
                </a:moveTo>
                <a:lnTo>
                  <a:pt x="5989677" y="0"/>
                </a:lnTo>
                <a:lnTo>
                  <a:pt x="5989677" y="3125522"/>
                </a:lnTo>
                <a:lnTo>
                  <a:pt x="0" y="3125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6815557" y="5709980"/>
            <a:ext cx="6087593" cy="3176617"/>
          </a:xfrm>
          <a:custGeom>
            <a:avLst/>
            <a:gdLst/>
            <a:ahLst/>
            <a:cxnLst/>
            <a:rect l="l" t="t" r="r" b="b"/>
            <a:pathLst>
              <a:path w="6087593" h="3176617">
                <a:moveTo>
                  <a:pt x="0" y="0"/>
                </a:moveTo>
                <a:lnTo>
                  <a:pt x="6087594" y="0"/>
                </a:lnTo>
                <a:lnTo>
                  <a:pt x="6087594" y="3176617"/>
                </a:lnTo>
                <a:lnTo>
                  <a:pt x="0" y="3176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1843957" y="3169748"/>
            <a:ext cx="5878550" cy="3067534"/>
          </a:xfrm>
          <a:custGeom>
            <a:avLst/>
            <a:gdLst/>
            <a:ahLst/>
            <a:cxnLst/>
            <a:rect l="l" t="t" r="r" b="b"/>
            <a:pathLst>
              <a:path w="5878550" h="3067534">
                <a:moveTo>
                  <a:pt x="0" y="0"/>
                </a:moveTo>
                <a:lnTo>
                  <a:pt x="5878550" y="0"/>
                </a:lnTo>
                <a:lnTo>
                  <a:pt x="5878550" y="3067534"/>
                </a:lnTo>
                <a:lnTo>
                  <a:pt x="0" y="3067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3526230" y="-20574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2193588" y="-1459650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-696171" y="-5920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4647172" y="91703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1254672" y="9626820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7" y="0"/>
                </a:lnTo>
                <a:lnTo>
                  <a:pt x="3296957" y="809253"/>
                </a:lnTo>
                <a:lnTo>
                  <a:pt x="0" y="809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155416" y="4543968"/>
            <a:ext cx="5644803" cy="115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60"/>
              </a:lnSpc>
              <a:spcBef>
                <a:spcPct val="0"/>
              </a:spcBef>
            </a:pPr>
            <a:r>
              <a:rPr lang="en-US" sz="3452" spc="5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Processes booking and event requests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1714" y="6971258"/>
            <a:ext cx="5095281" cy="105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7"/>
              </a:lnSpc>
              <a:spcBef>
                <a:spcPct val="0"/>
              </a:spcBef>
            </a:pPr>
            <a:r>
              <a:rPr lang="en-US" sz="3116" spc="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Ensures seat availibility before booking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22769" y="4221417"/>
            <a:ext cx="5520927" cy="120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6"/>
              </a:lnSpc>
            </a:pPr>
            <a:r>
              <a:rPr lang="en-US" sz="3619" spc="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Connects frontend </a:t>
            </a:r>
          </a:p>
          <a:p>
            <a:pPr marL="0" lvl="0" indent="0" algn="ctr">
              <a:lnSpc>
                <a:spcPts val="4886"/>
              </a:lnSpc>
              <a:spcBef>
                <a:spcPct val="0"/>
              </a:spcBef>
            </a:pPr>
            <a:r>
              <a:rPr lang="en-US" sz="3619" spc="5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database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0255" y="2107762"/>
            <a:ext cx="9878193" cy="112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71"/>
              </a:lnSpc>
            </a:pPr>
            <a:r>
              <a:rPr lang="en-US" sz="8733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36549" y="1389689"/>
            <a:ext cx="10672893" cy="712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1"/>
              </a:lnSpc>
            </a:pPr>
            <a:r>
              <a:rPr lang="en-US" sz="5496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DESIGN</a:t>
            </a:r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0242051" y="9496827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2621819" y="2656319"/>
            <a:ext cx="129087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5600" u="none" strike="noStrike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57245" y="2656319"/>
            <a:ext cx="899716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86281" y="2656319"/>
            <a:ext cx="129087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8992" y="3536100"/>
            <a:ext cx="4229321" cy="855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2"/>
              </a:lnSpc>
              <a:spcBef>
                <a:spcPct val="0"/>
              </a:spcBef>
            </a:pPr>
            <a:r>
              <a:rPr lang="en-US" sz="2586" spc="4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Events and bookings stored in MySQL (RDS)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92442" y="3527736"/>
            <a:ext cx="4229321" cy="855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2"/>
              </a:lnSpc>
              <a:spcBef>
                <a:spcPct val="0"/>
              </a:spcBef>
            </a:pPr>
            <a:r>
              <a:rPr lang="en-US" sz="2586" spc="4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Capacity tracked to prevent overbooking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2803" y="3527736"/>
            <a:ext cx="4229321" cy="1293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2586" spc="4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Admin credentials stored securely using </a:t>
            </a:r>
          </a:p>
          <a:p>
            <a:pPr marL="0" lvl="0" indent="0" algn="ctr">
              <a:lnSpc>
                <a:spcPts val="3492"/>
              </a:lnSpc>
              <a:spcBef>
                <a:spcPct val="0"/>
              </a:spcBef>
            </a:pPr>
            <a:r>
              <a:rPr lang="en-US" sz="2586" spc="4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hashed passwords</a:t>
            </a:r>
          </a:p>
        </p:txBody>
      </p:sp>
      <p:sp>
        <p:nvSpPr>
          <p:cNvPr id="19" name="Freeform 19"/>
          <p:cNvSpPr/>
          <p:nvPr/>
        </p:nvSpPr>
        <p:spPr>
          <a:xfrm>
            <a:off x="547946" y="5343895"/>
            <a:ext cx="8978846" cy="3108926"/>
          </a:xfrm>
          <a:custGeom>
            <a:avLst/>
            <a:gdLst/>
            <a:ahLst/>
            <a:cxnLst/>
            <a:rect l="l" t="t" r="r" b="b"/>
            <a:pathLst>
              <a:path w="8978846" h="3108926">
                <a:moveTo>
                  <a:pt x="0" y="0"/>
                </a:moveTo>
                <a:lnTo>
                  <a:pt x="8978846" y="0"/>
                </a:lnTo>
                <a:lnTo>
                  <a:pt x="8978846" y="3108925"/>
                </a:lnTo>
                <a:lnTo>
                  <a:pt x="0" y="31089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0502901" y="5367983"/>
            <a:ext cx="7237154" cy="3084837"/>
          </a:xfrm>
          <a:custGeom>
            <a:avLst/>
            <a:gdLst/>
            <a:ahLst/>
            <a:cxnLst/>
            <a:rect l="l" t="t" r="r" b="b"/>
            <a:pathLst>
              <a:path w="7237154" h="3084837">
                <a:moveTo>
                  <a:pt x="0" y="0"/>
                </a:moveTo>
                <a:lnTo>
                  <a:pt x="7237153" y="0"/>
                </a:lnTo>
                <a:lnTo>
                  <a:pt x="7237153" y="3084837"/>
                </a:lnTo>
                <a:lnTo>
                  <a:pt x="0" y="308483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2823210" y="8579949"/>
            <a:ext cx="4181437" cy="37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734"/>
              </a:lnSpc>
              <a:spcBef>
                <a:spcPct val="0"/>
              </a:spcBef>
            </a:pPr>
            <a:r>
              <a:rPr lang="en-US" sz="2818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booking table schema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83197" y="8634740"/>
            <a:ext cx="4302401" cy="383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13"/>
              </a:lnSpc>
              <a:spcBef>
                <a:spcPct val="0"/>
              </a:spcBef>
            </a:pPr>
            <a:r>
              <a:rPr lang="en-US" sz="2900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events table schema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684013"/>
            <a:ext cx="8764369" cy="885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6848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SECURITY DESIGN</a:t>
            </a:r>
          </a:p>
        </p:txBody>
      </p:sp>
      <p:sp>
        <p:nvSpPr>
          <p:cNvPr id="3" name="Freeform 3"/>
          <p:cNvSpPr/>
          <p:nvPr/>
        </p:nvSpPr>
        <p:spPr>
          <a:xfrm>
            <a:off x="-1272457" y="7664678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965813" y="9106785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 rot="-5400000">
            <a:off x="3617418" y="4212164"/>
            <a:ext cx="225880" cy="5403316"/>
            <a:chOff x="0" y="0"/>
            <a:chExt cx="301173" cy="7204422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9144000" y="1656872"/>
            <a:ext cx="129087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5600" u="none" strike="noStrike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28851" y="1466372"/>
            <a:ext cx="623044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99"/>
              </a:lnSpc>
              <a:spcBef>
                <a:spcPct val="0"/>
              </a:spcBef>
            </a:pPr>
            <a:r>
              <a:rPr lang="en-US" sz="4500" spc="-89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Backend is private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7634" y="3371799"/>
            <a:ext cx="1417532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499"/>
              </a:lnSpc>
              <a:spcBef>
                <a:spcPct val="0"/>
              </a:spcBef>
            </a:pPr>
            <a:r>
              <a:rPr lang="en-US" sz="5499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7634" y="5747648"/>
            <a:ext cx="1417532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499"/>
              </a:lnSpc>
              <a:spcBef>
                <a:spcPct val="0"/>
              </a:spcBef>
            </a:pPr>
            <a:r>
              <a:rPr lang="en-US" sz="5499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0" y="7912109"/>
            <a:ext cx="1417532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499"/>
              </a:lnSpc>
              <a:spcBef>
                <a:spcPct val="0"/>
              </a:spcBef>
            </a:pPr>
            <a:r>
              <a:rPr lang="en-US" sz="5499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28851" y="3123489"/>
            <a:ext cx="6230449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299"/>
              </a:lnSpc>
              <a:spcBef>
                <a:spcPct val="0"/>
              </a:spcBef>
            </a:pPr>
            <a:r>
              <a:rPr lang="en-US" sz="4500" spc="-89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Database not publicly accessible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28851" y="5416559"/>
            <a:ext cx="4815081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299"/>
              </a:lnSpc>
              <a:spcBef>
                <a:spcPct val="0"/>
              </a:spcBef>
            </a:pPr>
            <a:r>
              <a:rPr lang="en-US" sz="4500" spc="-89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Security Groups control access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28851" y="7712084"/>
            <a:ext cx="5017783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299"/>
              </a:lnSpc>
              <a:spcBef>
                <a:spcPct val="0"/>
              </a:spcBef>
            </a:pPr>
            <a:r>
              <a:rPr lang="en-US" sz="4500" spc="-89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No SSH (Session Manager used)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2457" y="7664678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2965813" y="9106785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3700745" y="3804690"/>
          <a:ext cx="10886510" cy="5133975"/>
        </p:xfrm>
        <a:graphic>
          <a:graphicData uri="http://schemas.openxmlformats.org/drawingml/2006/table">
            <a:tbl>
              <a:tblPr/>
              <a:tblGrid>
                <a:gridCol w="2599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679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1760780" y="1958788"/>
            <a:ext cx="16252108" cy="102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7"/>
              </a:lnSpc>
            </a:pPr>
            <a:r>
              <a:rPr lang="en-US" sz="7873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CLOUD DESIGN JUSTIFICATION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236120" y="6980493"/>
            <a:ext cx="2625481" cy="2958288"/>
          </a:xfrm>
          <a:custGeom>
            <a:avLst/>
            <a:gdLst/>
            <a:ahLst/>
            <a:cxnLst/>
            <a:rect l="l" t="t" r="r" b="b"/>
            <a:pathLst>
              <a:path w="2625481" h="2958288">
                <a:moveTo>
                  <a:pt x="0" y="0"/>
                </a:moveTo>
                <a:lnTo>
                  <a:pt x="2625480" y="0"/>
                </a:lnTo>
                <a:lnTo>
                  <a:pt x="2625480" y="2958288"/>
                </a:lnTo>
                <a:lnTo>
                  <a:pt x="0" y="2958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4355377" y="3933173"/>
            <a:ext cx="129714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99"/>
              </a:lnSpc>
              <a:spcBef>
                <a:spcPct val="0"/>
              </a:spcBef>
            </a:pPr>
            <a:r>
              <a:rPr lang="en-US" sz="4500" b="1" spc="-89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ALB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55377" y="4915038"/>
            <a:ext cx="129714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99"/>
              </a:lnSpc>
              <a:spcBef>
                <a:spcPct val="0"/>
              </a:spcBef>
            </a:pPr>
            <a:r>
              <a:rPr lang="en-US" sz="4500" b="1" spc="-89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ASG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37150" y="5810902"/>
            <a:ext cx="1554930" cy="1042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9"/>
              </a:lnSpc>
            </a:pPr>
            <a:r>
              <a:rPr lang="en-US" sz="2985" b="1" spc="-59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RDS</a:t>
            </a:r>
          </a:p>
          <a:p>
            <a:pPr marL="0" lvl="0" indent="0" algn="ctr">
              <a:lnSpc>
                <a:spcPts val="4179"/>
              </a:lnSpc>
              <a:spcBef>
                <a:spcPct val="0"/>
              </a:spcBef>
            </a:pPr>
            <a:r>
              <a:rPr lang="en-US" sz="2985" b="1" spc="-59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Multi-AZ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55377" y="6968049"/>
            <a:ext cx="129714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99"/>
              </a:lnSpc>
              <a:spcBef>
                <a:spcPct val="0"/>
              </a:spcBef>
            </a:pPr>
            <a:r>
              <a:rPr lang="en-US" sz="4500" b="1" spc="-89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VPC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38728" y="7894690"/>
            <a:ext cx="1951774" cy="100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77"/>
              </a:lnSpc>
              <a:spcBef>
                <a:spcPct val="0"/>
              </a:spcBef>
            </a:pPr>
            <a:r>
              <a:rPr lang="en-US" sz="2912" b="1" spc="-58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SECURITY GROUPS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99373" y="4066523"/>
            <a:ext cx="719335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distributes traffic, improves availability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99373" y="5076825"/>
            <a:ext cx="719335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replaces failed instances automatically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99373" y="6087127"/>
            <a:ext cx="719335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ensures database failover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99373" y="7097429"/>
            <a:ext cx="719335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isolates system components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99373" y="8107730"/>
            <a:ext cx="719335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-60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restricts access to resources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52989" y="2076443"/>
            <a:ext cx="10672893" cy="712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1"/>
              </a:lnSpc>
            </a:pPr>
            <a:r>
              <a:rPr lang="en-US" sz="5496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HIGH AVAILIBILITY TEST — EC2</a:t>
            </a:r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2570549" y="3416485"/>
            <a:ext cx="129087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5600" u="none" strike="noStrike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89720" y="3416485"/>
            <a:ext cx="899716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35011" y="3416485"/>
            <a:ext cx="129087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82991" y="4321899"/>
            <a:ext cx="3174578" cy="11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5"/>
              </a:lnSpc>
              <a:spcBef>
                <a:spcPct val="0"/>
              </a:spcBef>
            </a:pPr>
            <a:r>
              <a:rPr lang="en-US" sz="3203" spc="-64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Simulated EC2 failure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03725" y="4321899"/>
            <a:ext cx="3704968" cy="11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5"/>
              </a:lnSpc>
              <a:spcBef>
                <a:spcPct val="0"/>
              </a:spcBef>
            </a:pPr>
            <a:r>
              <a:rPr lang="en-US" sz="3203" spc="-64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Traffic continued without interruption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95522" y="4321899"/>
            <a:ext cx="3813633" cy="11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5"/>
              </a:lnSpc>
              <a:spcBef>
                <a:spcPct val="0"/>
              </a:spcBef>
            </a:pPr>
            <a:r>
              <a:rPr lang="en-US" sz="3203" spc="-64">
                <a:solidFill>
                  <a:srgbClr val="1C191A"/>
                </a:solidFill>
                <a:latin typeface="DM Sans"/>
                <a:ea typeface="DM Sans"/>
                <a:cs typeface="DM Sans"/>
                <a:sym typeface="DM Sans"/>
              </a:rPr>
              <a:t>Auto Scaling replaced instance</a:t>
            </a:r>
          </a:p>
        </p:txBody>
      </p:sp>
      <p:sp>
        <p:nvSpPr>
          <p:cNvPr id="22" name="Freeform 22"/>
          <p:cNvSpPr/>
          <p:nvPr/>
        </p:nvSpPr>
        <p:spPr>
          <a:xfrm>
            <a:off x="662381" y="5946571"/>
            <a:ext cx="16963238" cy="2352809"/>
          </a:xfrm>
          <a:custGeom>
            <a:avLst/>
            <a:gdLst/>
            <a:ahLst/>
            <a:cxnLst/>
            <a:rect l="l" t="t" r="r" b="b"/>
            <a:pathLst>
              <a:path w="16963238" h="2352809">
                <a:moveTo>
                  <a:pt x="0" y="0"/>
                </a:moveTo>
                <a:lnTo>
                  <a:pt x="16963238" y="0"/>
                </a:lnTo>
                <a:lnTo>
                  <a:pt x="16963238" y="2352809"/>
                </a:lnTo>
                <a:lnTo>
                  <a:pt x="0" y="235280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b="-3640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52989" y="2076443"/>
            <a:ext cx="9382022" cy="712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1"/>
              </a:lnSpc>
            </a:pPr>
            <a:r>
              <a:rPr lang="en-US" sz="5496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FAILOVER TEST  </a:t>
            </a:r>
          </a:p>
        </p:txBody>
      </p:sp>
      <p:sp>
        <p:nvSpPr>
          <p:cNvPr id="3" name="Freeform 3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763398" y="-1534296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7495522" y="-32977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7494810" y="2371030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2172921" y="6485002"/>
            <a:ext cx="13942157" cy="2126179"/>
          </a:xfrm>
          <a:custGeom>
            <a:avLst/>
            <a:gdLst/>
            <a:ahLst/>
            <a:cxnLst/>
            <a:rect l="l" t="t" r="r" b="b"/>
            <a:pathLst>
              <a:path w="13942157" h="2126179">
                <a:moveTo>
                  <a:pt x="0" y="0"/>
                </a:moveTo>
                <a:lnTo>
                  <a:pt x="13942158" y="0"/>
                </a:lnTo>
                <a:lnTo>
                  <a:pt x="13942158" y="2126179"/>
                </a:lnTo>
                <a:lnTo>
                  <a:pt x="0" y="21261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2570549" y="3416485"/>
            <a:ext cx="129087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5600" u="none" strike="noStrike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89720" y="3416485"/>
            <a:ext cx="899716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35011" y="3416485"/>
            <a:ext cx="129087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82991" y="4321899"/>
            <a:ext cx="3174578" cy="11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5"/>
              </a:lnSpc>
              <a:spcBef>
                <a:spcPct val="0"/>
              </a:spcBef>
            </a:pPr>
            <a:r>
              <a:rPr lang="en-US" sz="3203" spc="-64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Failover triggered using Multi-AZ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03725" y="4321899"/>
            <a:ext cx="4255575" cy="1671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5"/>
              </a:lnSpc>
              <a:spcBef>
                <a:spcPct val="0"/>
              </a:spcBef>
            </a:pPr>
            <a:r>
              <a:rPr lang="en-US" sz="3203" spc="-64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Application remained operational during failover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95522" y="4321899"/>
            <a:ext cx="3813633" cy="110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5"/>
              </a:lnSpc>
              <a:spcBef>
                <a:spcPct val="0"/>
              </a:spcBef>
            </a:pPr>
            <a:r>
              <a:rPr lang="en-US" sz="3203" spc="-64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Standby instance promoted to primary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8397" y="4203407"/>
            <a:ext cx="7592511" cy="1981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2"/>
              </a:lnSpc>
            </a:pPr>
            <a:r>
              <a:rPr lang="en-US" sz="7848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END-TO-END AVAILABILITY </a:t>
            </a:r>
          </a:p>
        </p:txBody>
      </p:sp>
      <p:sp>
        <p:nvSpPr>
          <p:cNvPr id="3" name="Freeform 3"/>
          <p:cNvSpPr/>
          <p:nvPr/>
        </p:nvSpPr>
        <p:spPr>
          <a:xfrm>
            <a:off x="-1272457" y="7664678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965813" y="9106785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 rot="-5400000">
            <a:off x="3617418" y="4212164"/>
            <a:ext cx="225880" cy="5403316"/>
            <a:chOff x="0" y="0"/>
            <a:chExt cx="301173" cy="7204422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9144000" y="1656872"/>
            <a:ext cx="1290871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00"/>
              </a:lnSpc>
              <a:spcBef>
                <a:spcPct val="0"/>
              </a:spcBef>
            </a:pPr>
            <a:r>
              <a:rPr lang="en-US" sz="560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5600" u="none" strike="noStrike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28851" y="1466372"/>
            <a:ext cx="5979507" cy="242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37"/>
              </a:lnSpc>
              <a:spcBef>
                <a:spcPct val="0"/>
              </a:spcBef>
            </a:pPr>
            <a:r>
              <a:rPr lang="en-US" sz="4598" spc="-91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End-to-end booking operations remained functional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7634" y="4629183"/>
            <a:ext cx="1417532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499"/>
              </a:lnSpc>
              <a:spcBef>
                <a:spcPct val="0"/>
              </a:spcBef>
            </a:pPr>
            <a:r>
              <a:rPr lang="en-US" sz="5499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7634" y="7141062"/>
            <a:ext cx="1417532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499"/>
              </a:lnSpc>
              <a:spcBef>
                <a:spcPct val="0"/>
              </a:spcBef>
            </a:pPr>
            <a:r>
              <a:rPr lang="en-US" sz="5499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28851" y="4503770"/>
            <a:ext cx="6561738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299"/>
              </a:lnSpc>
              <a:spcBef>
                <a:spcPct val="0"/>
              </a:spcBef>
            </a:pPr>
            <a:r>
              <a:rPr lang="en-US" sz="4500" spc="-89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No visible downtime to users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753739" y="6828097"/>
            <a:ext cx="7259149" cy="237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299"/>
              </a:lnSpc>
              <a:spcBef>
                <a:spcPct val="0"/>
              </a:spcBef>
            </a:pPr>
            <a:r>
              <a:rPr lang="en-US" sz="4500" spc="-89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System remained accessible via load balancer during failures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94080" y="8337242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8" y="0"/>
                </a:lnTo>
                <a:lnTo>
                  <a:pt x="4899948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2833891" y="6173952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4747568">
            <a:off x="-1892154" y="3556629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4213554" y="1092099"/>
            <a:ext cx="10571239" cy="1276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95"/>
              </a:lnSpc>
            </a:pPr>
            <a:r>
              <a:rPr lang="en-US" sz="10684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LIVE DEMO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414964" y="7286387"/>
            <a:ext cx="15951176" cy="367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  <a:spcBef>
                <a:spcPct val="0"/>
              </a:spcBef>
            </a:pPr>
            <a:r>
              <a:rPr lang="en-US" sz="2216" spc="35">
                <a:solidFill>
                  <a:srgbClr val="FF5757"/>
                </a:solidFill>
                <a:latin typeface="DM Sans"/>
                <a:ea typeface="DM Sans"/>
                <a:cs typeface="DM Sans"/>
                <a:sym typeface="DM Sans"/>
              </a:rPr>
              <a:t> http://event-booking-frontend-noe-2026.s3-website-us-east-1.amazonaws.com/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86214" y="4104884"/>
            <a:ext cx="2723379" cy="127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3"/>
              </a:lnSpc>
              <a:spcBef>
                <a:spcPct val="0"/>
              </a:spcBef>
            </a:pPr>
            <a:r>
              <a:rPr lang="en-US" sz="3809" spc="60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View admin dashboard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78713" y="3556218"/>
            <a:ext cx="1294158" cy="74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614"/>
              </a:lnSpc>
              <a:spcBef>
                <a:spcPct val="0"/>
              </a:spcBef>
            </a:pPr>
            <a:r>
              <a:rPr lang="en-US" sz="5614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-US" sz="5614" u="none" strike="noStrike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56196" y="5158460"/>
            <a:ext cx="1421142" cy="73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514"/>
              </a:lnSpc>
              <a:spcBef>
                <a:spcPct val="0"/>
              </a:spcBef>
            </a:pPr>
            <a:r>
              <a:rPr lang="en-US" sz="5514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62204" y="3317736"/>
            <a:ext cx="1421142" cy="73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514"/>
              </a:lnSpc>
              <a:spcBef>
                <a:spcPct val="0"/>
              </a:spcBef>
            </a:pPr>
            <a:r>
              <a:rPr lang="en-US" sz="5514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37914" y="3961791"/>
            <a:ext cx="3180900" cy="59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4530" b="1" dirty="0">
                <a:solidFill>
                  <a:srgbClr val="194671"/>
                </a:solidFill>
                <a:latin typeface="DM Sans Bold"/>
                <a:ea typeface="DM Sans Bold"/>
                <a:cs typeface="DM Sans Bold"/>
                <a:sym typeface="DM Sans Bold"/>
              </a:rPr>
              <a:t> Demo Flow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16811" y="4563679"/>
            <a:ext cx="3207696" cy="49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3780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Browse events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89550" y="5967037"/>
            <a:ext cx="3304517" cy="5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Book an event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27077" y="8413442"/>
            <a:ext cx="7474123" cy="53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dirty="0">
                <a:solidFill>
                  <a:srgbClr val="194671"/>
                </a:solidFill>
                <a:latin typeface="DM Sans"/>
                <a:ea typeface="DM Sans"/>
                <a:cs typeface="DM Sans"/>
                <a:sym typeface="DM Sans"/>
              </a:rPr>
              <a:t>Backup: Screenshots available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7077" y="6600587"/>
            <a:ext cx="175912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5600" dirty="0">
                <a:solidFill>
                  <a:srgbClr val="8AB7E2"/>
                </a:solidFill>
                <a:latin typeface="DM Sans"/>
                <a:ea typeface="DM Sans"/>
                <a:cs typeface="DM Sans"/>
                <a:sym typeface="DM Sans"/>
              </a:rPr>
              <a:t>URL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092" y="6281195"/>
            <a:ext cx="7204671" cy="110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1"/>
              </a:lnSpc>
            </a:pPr>
            <a:r>
              <a:rPr lang="en-US" sz="8362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85146" y="3372885"/>
            <a:ext cx="11496598" cy="1752952"/>
            <a:chOff x="0" y="0"/>
            <a:chExt cx="3848581" cy="5868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48581" cy="586815"/>
            </a:xfrm>
            <a:custGeom>
              <a:avLst/>
              <a:gdLst/>
              <a:ahLst/>
              <a:cxnLst/>
              <a:rect l="l" t="t" r="r" b="b"/>
              <a:pathLst>
                <a:path w="3848581" h="586815">
                  <a:moveTo>
                    <a:pt x="10101" y="0"/>
                  </a:moveTo>
                  <a:lnTo>
                    <a:pt x="3838479" y="0"/>
                  </a:lnTo>
                  <a:cubicBezTo>
                    <a:pt x="3841159" y="0"/>
                    <a:pt x="3843728" y="1064"/>
                    <a:pt x="3845622" y="2959"/>
                  </a:cubicBezTo>
                  <a:cubicBezTo>
                    <a:pt x="3847516" y="4853"/>
                    <a:pt x="3848581" y="7422"/>
                    <a:pt x="3848581" y="10101"/>
                  </a:cubicBezTo>
                  <a:lnTo>
                    <a:pt x="3848581" y="576714"/>
                  </a:lnTo>
                  <a:cubicBezTo>
                    <a:pt x="3848581" y="582293"/>
                    <a:pt x="3844058" y="586815"/>
                    <a:pt x="3838479" y="586815"/>
                  </a:cubicBezTo>
                  <a:lnTo>
                    <a:pt x="10101" y="586815"/>
                  </a:lnTo>
                  <a:cubicBezTo>
                    <a:pt x="4522" y="586815"/>
                    <a:pt x="0" y="582293"/>
                    <a:pt x="0" y="576714"/>
                  </a:cubicBezTo>
                  <a:lnTo>
                    <a:pt x="0" y="10101"/>
                  </a:lnTo>
                  <a:cubicBezTo>
                    <a:pt x="0" y="4522"/>
                    <a:pt x="4522" y="0"/>
                    <a:pt x="10101" y="0"/>
                  </a:cubicBezTo>
                  <a:close/>
                </a:path>
              </a:pathLst>
            </a:custGeom>
            <a:solidFill>
              <a:srgbClr val="8AB7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3848581" cy="501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86259" y="847217"/>
            <a:ext cx="11935076" cy="1752952"/>
            <a:chOff x="0" y="0"/>
            <a:chExt cx="3995365" cy="5868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95365" cy="586815"/>
            </a:xfrm>
            <a:custGeom>
              <a:avLst/>
              <a:gdLst/>
              <a:ahLst/>
              <a:cxnLst/>
              <a:rect l="l" t="t" r="r" b="b"/>
              <a:pathLst>
                <a:path w="3995365" h="586815">
                  <a:moveTo>
                    <a:pt x="9730" y="0"/>
                  </a:moveTo>
                  <a:lnTo>
                    <a:pt x="3985635" y="0"/>
                  </a:lnTo>
                  <a:cubicBezTo>
                    <a:pt x="3988215" y="0"/>
                    <a:pt x="3990691" y="1025"/>
                    <a:pt x="3992515" y="2850"/>
                  </a:cubicBezTo>
                  <a:cubicBezTo>
                    <a:pt x="3994340" y="4675"/>
                    <a:pt x="3995365" y="7149"/>
                    <a:pt x="3995365" y="9730"/>
                  </a:cubicBezTo>
                  <a:lnTo>
                    <a:pt x="3995365" y="577085"/>
                  </a:lnTo>
                  <a:cubicBezTo>
                    <a:pt x="3995365" y="579666"/>
                    <a:pt x="3994340" y="582141"/>
                    <a:pt x="3992515" y="583965"/>
                  </a:cubicBezTo>
                  <a:cubicBezTo>
                    <a:pt x="3990691" y="585790"/>
                    <a:pt x="3988215" y="586815"/>
                    <a:pt x="3985635" y="586815"/>
                  </a:cubicBezTo>
                  <a:lnTo>
                    <a:pt x="9730" y="586815"/>
                  </a:lnTo>
                  <a:cubicBezTo>
                    <a:pt x="7149" y="586815"/>
                    <a:pt x="4675" y="585790"/>
                    <a:pt x="2850" y="583965"/>
                  </a:cubicBezTo>
                  <a:cubicBezTo>
                    <a:pt x="1025" y="582141"/>
                    <a:pt x="0" y="579666"/>
                    <a:pt x="0" y="577085"/>
                  </a:cubicBezTo>
                  <a:lnTo>
                    <a:pt x="0" y="9730"/>
                  </a:lnTo>
                  <a:cubicBezTo>
                    <a:pt x="0" y="7149"/>
                    <a:pt x="1025" y="4675"/>
                    <a:pt x="2850" y="2850"/>
                  </a:cubicBezTo>
                  <a:cubicBezTo>
                    <a:pt x="4675" y="1025"/>
                    <a:pt x="7149" y="0"/>
                    <a:pt x="9730" y="0"/>
                  </a:cubicBezTo>
                  <a:close/>
                </a:path>
              </a:pathLst>
            </a:custGeom>
            <a:solidFill>
              <a:srgbClr val="8AB7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5725"/>
              <a:ext cx="3995365" cy="501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963381" y="1312746"/>
            <a:ext cx="1303394" cy="84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604" b="1" spc="-541">
                <a:solidFill>
                  <a:srgbClr val="194671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543003" y="5595395"/>
            <a:ext cx="9838741" cy="1767147"/>
            <a:chOff x="0" y="0"/>
            <a:chExt cx="3293600" cy="5915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93600" cy="591567"/>
            </a:xfrm>
            <a:custGeom>
              <a:avLst/>
              <a:gdLst/>
              <a:ahLst/>
              <a:cxnLst/>
              <a:rect l="l" t="t" r="r" b="b"/>
              <a:pathLst>
                <a:path w="3293600" h="591567">
                  <a:moveTo>
                    <a:pt x="11803" y="0"/>
                  </a:moveTo>
                  <a:lnTo>
                    <a:pt x="3281797" y="0"/>
                  </a:lnTo>
                  <a:cubicBezTo>
                    <a:pt x="3288315" y="0"/>
                    <a:pt x="3293600" y="5284"/>
                    <a:pt x="3293600" y="11803"/>
                  </a:cubicBezTo>
                  <a:lnTo>
                    <a:pt x="3293600" y="579764"/>
                  </a:lnTo>
                  <a:cubicBezTo>
                    <a:pt x="3293600" y="586282"/>
                    <a:pt x="3288315" y="591567"/>
                    <a:pt x="3281797" y="591567"/>
                  </a:cubicBezTo>
                  <a:lnTo>
                    <a:pt x="11803" y="591567"/>
                  </a:lnTo>
                  <a:cubicBezTo>
                    <a:pt x="5284" y="591567"/>
                    <a:pt x="0" y="586282"/>
                    <a:pt x="0" y="579764"/>
                  </a:cubicBezTo>
                  <a:lnTo>
                    <a:pt x="0" y="11803"/>
                  </a:lnTo>
                  <a:cubicBezTo>
                    <a:pt x="0" y="5284"/>
                    <a:pt x="5284" y="0"/>
                    <a:pt x="11803" y="0"/>
                  </a:cubicBezTo>
                  <a:close/>
                </a:path>
              </a:pathLst>
            </a:custGeom>
            <a:solidFill>
              <a:srgbClr val="8AB7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5725"/>
              <a:ext cx="3293600" cy="505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76656" y="8135460"/>
            <a:ext cx="9289848" cy="1720799"/>
            <a:chOff x="0" y="0"/>
            <a:chExt cx="3109853" cy="5760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09853" cy="576052"/>
            </a:xfrm>
            <a:custGeom>
              <a:avLst/>
              <a:gdLst/>
              <a:ahLst/>
              <a:cxnLst/>
              <a:rect l="l" t="t" r="r" b="b"/>
              <a:pathLst>
                <a:path w="3109853" h="576052">
                  <a:moveTo>
                    <a:pt x="12501" y="0"/>
                  </a:moveTo>
                  <a:lnTo>
                    <a:pt x="3097352" y="0"/>
                  </a:lnTo>
                  <a:cubicBezTo>
                    <a:pt x="3104256" y="0"/>
                    <a:pt x="3109853" y="5597"/>
                    <a:pt x="3109853" y="12501"/>
                  </a:cubicBezTo>
                  <a:lnTo>
                    <a:pt x="3109853" y="563551"/>
                  </a:lnTo>
                  <a:cubicBezTo>
                    <a:pt x="3109853" y="570455"/>
                    <a:pt x="3104256" y="576052"/>
                    <a:pt x="3097352" y="576052"/>
                  </a:cubicBezTo>
                  <a:lnTo>
                    <a:pt x="12501" y="576052"/>
                  </a:lnTo>
                  <a:cubicBezTo>
                    <a:pt x="9185" y="576052"/>
                    <a:pt x="6006" y="574735"/>
                    <a:pt x="3661" y="572390"/>
                  </a:cubicBezTo>
                  <a:cubicBezTo>
                    <a:pt x="1317" y="570046"/>
                    <a:pt x="0" y="566866"/>
                    <a:pt x="0" y="563551"/>
                  </a:cubicBezTo>
                  <a:lnTo>
                    <a:pt x="0" y="12501"/>
                  </a:lnTo>
                  <a:cubicBezTo>
                    <a:pt x="0" y="5597"/>
                    <a:pt x="5597" y="0"/>
                    <a:pt x="12501" y="0"/>
                  </a:cubicBezTo>
                  <a:close/>
                </a:path>
              </a:pathLst>
            </a:custGeom>
            <a:solidFill>
              <a:srgbClr val="8AB7E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85725"/>
              <a:ext cx="3109853" cy="490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139774" y="962025"/>
            <a:ext cx="8548865" cy="148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36"/>
              </a:lnSpc>
              <a:spcBef>
                <a:spcPct val="0"/>
              </a:spcBef>
            </a:pPr>
            <a:r>
              <a:rPr lang="en-US" sz="4397" spc="70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Scalable cloud-based system implemented</a:t>
            </a:r>
          </a:p>
        </p:txBody>
      </p:sp>
      <p:sp>
        <p:nvSpPr>
          <p:cNvPr id="17" name="Freeform 17"/>
          <p:cNvSpPr/>
          <p:nvPr/>
        </p:nvSpPr>
        <p:spPr>
          <a:xfrm>
            <a:off x="-848571" y="8919661"/>
            <a:ext cx="3870946" cy="950141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4472906" y="-2364815"/>
            <a:ext cx="4980952" cy="3731186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3431074" y="8919661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-848571" y="-7444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7840606" y="3918728"/>
            <a:ext cx="1303394" cy="84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604" b="1" spc="-541">
                <a:solidFill>
                  <a:srgbClr val="194671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0" y="6153150"/>
            <a:ext cx="1303394" cy="84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604" b="1" spc="-541">
                <a:solidFill>
                  <a:srgbClr val="194671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47394" y="5719826"/>
            <a:ext cx="7597722" cy="1451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4"/>
              </a:lnSpc>
              <a:spcBef>
                <a:spcPct val="0"/>
              </a:spcBef>
            </a:pPr>
            <a:r>
              <a:rPr lang="en-US" sz="4299" spc="68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Secure and isolated architecture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96015" y="8142620"/>
            <a:ext cx="7191985" cy="1451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4"/>
              </a:lnSpc>
            </a:pPr>
            <a:r>
              <a:rPr lang="en-US" sz="4299" spc="68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Successfully meets</a:t>
            </a:r>
          </a:p>
          <a:p>
            <a:pPr marL="0" lvl="0" indent="0" algn="l">
              <a:lnSpc>
                <a:spcPts val="5804"/>
              </a:lnSpc>
              <a:spcBef>
                <a:spcPct val="0"/>
              </a:spcBef>
            </a:pPr>
            <a:r>
              <a:rPr lang="en-US" sz="4299" spc="68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project requirements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95697" y="8571365"/>
            <a:ext cx="1303394" cy="84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604" b="1" spc="-541">
                <a:solidFill>
                  <a:srgbClr val="194671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53857" y="3507881"/>
            <a:ext cx="8852238" cy="1451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4"/>
              </a:lnSpc>
              <a:spcBef>
                <a:spcPct val="0"/>
              </a:spcBef>
            </a:pPr>
            <a:r>
              <a:rPr lang="en-US" sz="4299" spc="68">
                <a:solidFill>
                  <a:srgbClr val="09325A"/>
                </a:solidFill>
                <a:latin typeface="DM Sans"/>
                <a:ea typeface="DM Sans"/>
                <a:cs typeface="DM Sans"/>
                <a:sym typeface="DM Sans"/>
              </a:rPr>
              <a:t>High availability and fault tolerance achieved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3688802" y="3528525"/>
            <a:ext cx="10910396" cy="3364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sz="14597" b="1">
                <a:solidFill>
                  <a:srgbClr val="8AB7E2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Custom</PresentationFormat>
  <Paragraphs>201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Canva Sans Bold</vt:lpstr>
      <vt:lpstr>DM Sans</vt:lpstr>
      <vt:lpstr>Calibri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Group Project</dc:title>
  <cp:lastModifiedBy>Aaron Molayal</cp:lastModifiedBy>
  <cp:revision>2</cp:revision>
  <dcterms:created xsi:type="dcterms:W3CDTF">2006-08-16T00:00:00Z</dcterms:created>
  <dcterms:modified xsi:type="dcterms:W3CDTF">2026-03-31T09:01:21Z</dcterms:modified>
  <dc:identifier>DAGioDRaUWs</dc:identifier>
</cp:coreProperties>
</file>